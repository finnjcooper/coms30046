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3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21A8DF-9A85-474C-B6F2-E6E3BD40262E}">
          <p14:sldIdLst>
            <p14:sldId id="256"/>
            <p14:sldId id="257"/>
            <p14:sldId id="264"/>
            <p14:sldId id="263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825"/>
    <a:srgbClr val="1111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A83-5DEB-3060-FB2B-F43E500CF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52EA2E-69F0-4ED4-79E7-3D469F301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E6E83-58AB-330F-60ED-FCB9FD7BF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D54DB-E3A9-B753-0DDF-87FD8992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1BB5D-1A1A-4719-5444-B6FB2C82E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98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D941D-FB1B-5B01-95AC-2A1BECE2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C03D-34FF-361A-D4AC-F0D528182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DB312-014A-7725-5010-B3F53CE0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E50F2-D6D9-0CD7-3E54-228E897BE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D264C-F9C9-F4BF-D5AA-8E44933B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864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1CB2-B1A4-3BB3-139E-C166F35CC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E5330-35EF-E7B9-55BA-47AD28E3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E4AD1-520F-BCCB-722A-53FF7127E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9EBD7-0E96-D663-20F5-21242E77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C0A10-CF44-0681-B02C-9EEBDAF69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214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C756F-9DD1-5706-AA73-934E9F6BD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69F52-2932-1FE0-50EC-C926926F5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D78A46-C211-1438-3E93-3136669F5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91B63D-7A64-7DDF-90C9-A96EBB99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352F6-A7B6-80A0-C8CC-F6F2B3F7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7E467-699F-59A3-D27B-D31F4DF4C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534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E4EF7-A37E-7C24-70D5-6DA991EE0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B6F89-3003-FF3B-3A6A-37899E40D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C6BCF-2DE9-1FCC-76BB-6EBF3B3B9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0CDF56-1C5B-29A9-8F97-FE1FE85FD9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175EBE-6F0A-5C6D-7E83-AD8D09E7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66F64D-46BF-A8F1-1235-B8903703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4E1970-21E2-3C0A-AE5D-CD44D1EB6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67D86-52A9-66C6-3AA4-11C50D5B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899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CD9A-F4F0-5356-12AC-38C31D9E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9D380-9F3A-88EC-8058-133260F89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7C0D39-F071-2DB4-8387-F358500C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83FEA2-B138-9804-B235-37CE01F2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730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1889FB-17EF-A105-2689-71768FB9B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D2EBB5-D748-7230-6C36-624DA5717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82AF9-286F-94F0-7D01-35F18A2B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206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02B06-7E05-4FB9-AC01-7118FF47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6A265-6A0B-9C5F-0190-B19B8EBD3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F1E4E3-0094-976C-16F6-1A540703A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06909-3D34-8505-03E3-CA653E49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B0A3D-CBF7-7CDA-050D-2F78EB4AB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5E6A5-4D32-494C-DFD1-C2C54B84E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1783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8525C-6DAE-A2B8-F886-608A5CEAB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0E03-9089-C7E3-EA82-13674B2B5F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F02B6-B1EA-3A6C-A9EB-78DBD3A34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7B1F9-9322-1DF9-7F38-A758BC529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BA90C-DFD6-FA95-95BD-E9DA1426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13A49-0A42-21DA-EF59-F4AC4AEC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004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BC26-E954-755C-F8EF-6C8ECE8DF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B18D8-198F-D540-79C8-58306C552D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7CB17-DBF9-01BA-F626-C378C5FA1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7ABD-DF1F-46C2-1F08-83A8A8C7E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10DDF-C287-567F-7447-0C97CE57A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896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5813EF-5297-796E-1064-5356B3550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A8F1B2-9CF3-5E62-9346-2845F216E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05025-93E5-40AA-6E54-66AD5AAC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141B-1ACC-22BF-38D7-591BDEC98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398B-F387-F373-50A3-DCC10812D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7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5490E6-563B-AA3D-1833-C68BEC672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B720A-EC48-9653-D860-059B7A370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2ABA64-983F-8EC8-9E9C-5E22C3A53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8D4FB-FE4B-038F-680E-AD6E81F70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E9956-0A15-3617-0D3C-C09A3464E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100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FC964-F669-F88E-E187-EF3AA49BA2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RISC-V Super-Scalar</a:t>
            </a:r>
            <a:br>
              <a:rPr lang="en-GB" sz="4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4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46DE3-E573-9D44-69D5-A40CE32BF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Finn Cooper – sd22404</a:t>
            </a:r>
          </a:p>
        </p:txBody>
      </p:sp>
    </p:spTree>
    <p:extLst>
      <p:ext uri="{BB962C8B-B14F-4D97-AF65-F5344CB8AC3E}">
        <p14:creationId xmlns:p14="http://schemas.microsoft.com/office/powerpoint/2010/main" val="299946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CBF0816E-43F8-F541-9E27-91B54BC884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912" y="623887"/>
            <a:ext cx="10544175" cy="561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499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FABEC5-AA10-5DAE-1AFA-1DF9E0F4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87A7-4CED-3377-E3B2-5EF2E1A86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299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Features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E2FA8-BE80-3876-3C98-A93644712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771254" cy="535781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ISA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RV32I base ISA – missing FENCE, EBREAK, ECALL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RV32M </a:t>
            </a:r>
            <a:r>
              <a:rPr lang="en-GB" sz="1200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mul</a:t>
            </a: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/div extension – full implementation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RV32F float extension – missing </a:t>
            </a:r>
            <a:r>
              <a:rPr lang="en-GB" sz="1200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frm</a:t>
            </a: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GB" sz="1200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fcsrs</a:t>
            </a: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GB" sz="1200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fflags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RV32V vector extension – LMUL=m1, SEW&lt;=32, no tail/mask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Features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Seven-stage pipeline: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fetch, decode, dispatch, issue, execute, writeback, commit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Modelled multi-cycle instruction latency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execution via reservation stations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In-order commit via re-order buffer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Speculative execution via branch prediction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CDB-like broadcast to reservation stations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Load-store queue with relaxed memory consistency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Branch Prediction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taken / not taken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Backwards taken, forwards not taken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Dynamic two-bit saturating counter</a:t>
            </a: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B52E97E-A33A-D552-B1FD-FE3F05418315}"/>
              </a:ext>
            </a:extLst>
          </p:cNvPr>
          <p:cNvSpPr txBox="1">
            <a:spLocks/>
          </p:cNvSpPr>
          <p:nvPr/>
        </p:nvSpPr>
        <p:spPr>
          <a:xfrm>
            <a:off x="6609455" y="819149"/>
            <a:ext cx="4744344" cy="5357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Memory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Von Neumann Memory Architecture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Non-overlapping loads bypass pending older stores</a:t>
            </a:r>
            <a:b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Overlapping loads forward bytes from older stores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fetch/issue/commit width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number of each execution unit type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reservation station capacity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load-store queue capacity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vector length (128, 256, 512)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branch prediction policy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TUI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Scrollable disassembled instruction view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Scrollable register content view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Scrollable stack content view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Step/run/help </a:t>
            </a:r>
            <a:r>
              <a:rPr lang="en-GB" sz="1200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keybinds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Optional headless mode</a:t>
            </a:r>
          </a:p>
        </p:txBody>
      </p:sp>
    </p:spTree>
    <p:extLst>
      <p:ext uri="{BB962C8B-B14F-4D97-AF65-F5344CB8AC3E}">
        <p14:creationId xmlns:p14="http://schemas.microsoft.com/office/powerpoint/2010/main" val="1704127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E5CE0-1183-1BB9-7B41-939F6EB1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98E5B9D-70CE-EE8A-CBC7-B7263AD4AB23}"/>
              </a:ext>
            </a:extLst>
          </p:cNvPr>
          <p:cNvSpPr txBox="1">
            <a:spLocks/>
          </p:cNvSpPr>
          <p:nvPr/>
        </p:nvSpPr>
        <p:spPr>
          <a:xfrm>
            <a:off x="4498358" y="823641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saxpy</a:t>
            </a: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Computes [y = </a:t>
            </a:r>
            <a:r>
              <a:rPr lang="en-GB" sz="1200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ax</a:t>
            </a: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+ y] on two 1024-length 32-bit floating-point vectors. Stresses repeated fused multiply-add, load-store bandwidth and predictable loops.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vector-float fused multiply-add.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5028A8-EC7D-254E-0CF8-1E0FBA904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Benchmarks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25639CB-3167-CCE4-0D02-552CFDEFE079}"/>
              </a:ext>
            </a:extLst>
          </p:cNvPr>
          <p:cNvSpPr txBox="1">
            <a:spLocks/>
          </p:cNvSpPr>
          <p:nvPr/>
        </p:nvSpPr>
        <p:spPr>
          <a:xfrm>
            <a:off x="838200" y="819151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dot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Performs the dot product of two 1024-length 32-bit integer vectors. Stresses ALU/MUL throughput, simple loop branch prediction, sequential loads.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vector-int multiply-accumulate and vector-int reduction.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339C5A52-001E-3FC1-10BC-303596B77907}"/>
              </a:ext>
            </a:extLst>
          </p:cNvPr>
          <p:cNvSpPr txBox="1">
            <a:spLocks/>
          </p:cNvSpPr>
          <p:nvPr/>
        </p:nvSpPr>
        <p:spPr>
          <a:xfrm>
            <a:off x="8158516" y="3424509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fibonacci</a:t>
            </a: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Recursively calculates the 14</a:t>
            </a:r>
            <a:r>
              <a:rPr lang="en-GB" sz="1200" baseline="300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th</a:t>
            </a: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Fibonacci number. Stresses branch prediction, function call overhead, and pipeline stalling.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98179BD-B552-6373-4452-F0A5E663E46F}"/>
              </a:ext>
            </a:extLst>
          </p:cNvPr>
          <p:cNvSpPr txBox="1">
            <a:spLocks/>
          </p:cNvSpPr>
          <p:nvPr/>
        </p:nvSpPr>
        <p:spPr>
          <a:xfrm>
            <a:off x="8158516" y="823641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gaussian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Performs 3x3 convolution over an 18x18 32-bit floating-point matrix. Stresses nested loops, floating-point accumulation and structured memory access.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convolution style vector-float multiply-accumulate operations.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15D4F59-C75E-0A5E-8344-7D666C146494}"/>
              </a:ext>
            </a:extLst>
          </p:cNvPr>
          <p:cNvSpPr txBox="1">
            <a:spLocks/>
          </p:cNvSpPr>
          <p:nvPr/>
        </p:nvSpPr>
        <p:spPr>
          <a:xfrm>
            <a:off x="838200" y="3424509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 err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matmul</a:t>
            </a: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Matrix-multiplies two 16x16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32-bit integer matrices. Stresses multiply throughput and loop overhead.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vector-int multiply-accumulate and vector loads/stores.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AC6FD52-6D96-917A-A2A7-B6CEA705BD1E}"/>
              </a:ext>
            </a:extLst>
          </p:cNvPr>
          <p:cNvSpPr txBox="1">
            <a:spLocks/>
          </p:cNvSpPr>
          <p:nvPr/>
        </p:nvSpPr>
        <p:spPr>
          <a:xfrm>
            <a:off x="4498358" y="3424509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quicksort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Recursively sorts a 128-length 32-bit integer array. Stresses data-dependent branching, function calls via recursion, and irregular memory access.</a:t>
            </a:r>
          </a:p>
        </p:txBody>
      </p:sp>
    </p:spTree>
    <p:extLst>
      <p:ext uri="{BB962C8B-B14F-4D97-AF65-F5344CB8AC3E}">
        <p14:creationId xmlns:p14="http://schemas.microsoft.com/office/powerpoint/2010/main" val="493736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3725DC-29AA-DA76-8237-DA142626A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B1556-0DE8-703A-2686-90223EE49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One – Pipeline Width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B3A47-8A20-8370-B3BF-45DE669BE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314950" cy="535781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Increasing pipeline width and number of execution units will lead to increased IPC across all benchmarks.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All benchmarks were simulated with four different configurations: 1-, 2-, and 4-wide fetch/issue/commit widths. The number of each execution unit type was scaled 1:1 with pipeline width. Reservation station capacities were scaled 4:1 with width.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Instructions per cycle was calculated in each case.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Results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Average IPC increases from 0.836 at width-1 to 2.391 at width-8. All benchmarks besides dot product make use of the full 8-width pipeline and show improvement there.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8-width shows a very marginal improvement over 4-width. Suggests that there are other bottlenecks that surface, like branch misses or memory dependencies. Fibonacci and quicksort scale poorly because of their recursive and therefore branch-heavy nature.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2F9E61-487F-F449-68BB-ADFA44467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0" y="819150"/>
            <a:ext cx="60388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090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0DFCB-571D-E20A-6BEA-2279C156B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048BC-F8FC-1657-241E-E6B99A4C4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Two – Branch Prediction Policies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6566E-F80F-B658-73FB-CE6EF8B5F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314950" cy="5357813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Dynamic branch prediction will show an improvement in prediction accuracy over static policies in most cases.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</a:t>
            </a:r>
          </a:p>
          <a:p>
            <a:pPr marL="0" lvl="0" indent="0">
              <a:lnSpc>
                <a:spcPct val="100000"/>
              </a:lnSpc>
              <a:buNone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All benchmarks were simulated with four different branch prediction policies: three static (always taken, never taken, backwards taken forwards not </a:t>
            </a:r>
            <a:r>
              <a:rPr lang="en-GB" sz="1200" dirty="0">
                <a:solidFill>
                  <a:prstClr val="whit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taken),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and one dynamic (two-bit saturating counter).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Prediction accuracy (correctly predicted divided by total branch count) was calculated in each case.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Results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Best policy is two-bit with 81.59% average accuracy, narrowly followed by BTFNT with 80.91%. Benchmarks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ar</a:t>
            </a:r>
            <a:r>
              <a:rPr lang="en-GB" sz="1200" dirty="0">
                <a:solidFill>
                  <a:prstClr val="whit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 loop-heavy so static-taken and BTFNT perform well.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not taken performs terribly in most cases, especially dot,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saxpy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and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matmul</a:t>
            </a:r>
            <a:r>
              <a:rPr lang="en-GB" sz="1200" dirty="0">
                <a:solidFill>
                  <a:prstClr val="whit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as loops are almost always taken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 It performs well in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fibonacci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due to its mixed taken / not taken paths. Quicksort</a:t>
            </a:r>
            <a:r>
              <a:rPr lang="en-GB" sz="1200" dirty="0">
                <a:solidFill>
                  <a:prstClr val="whit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benefits the most from dynamic branch prediction as it is much less structurally predictable.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6C6CD05-D5E3-1844-FC7F-F6467C9207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0" y="819150"/>
            <a:ext cx="60388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37139C-CFC4-F842-3B67-12B8AA397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A9B3-9D14-08A1-464A-9E72299CA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Three - Vectorisation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2A3A0-71B6-6E0B-F31B-8D89D6EB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314950" cy="535781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Increasing vector length will improve performance by reducing the number of cycles taken to complete.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The four SIMD-friendly benchmarks were executed in four different configurations: a scalar baseline (2-width), and vectorised with VLEN=128, VLEN=256, and VLEN=512.</a:t>
            </a:r>
            <a:b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Ratio of number of cycles taken to complete vs the baseline was calculated in each vectorised case.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chemeClr val="bg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Results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All benchmarks show the cycle speedup roughly doubling at each vector length step. Average speedup is 3.89x at 128-bit, 7.349x at 256-bit and 14.508x at 512-bit.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Benchmarks reach a peak </a:t>
            </a:r>
            <a:r>
              <a:rPr lang="en-GB" sz="120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of almost </a:t>
            </a:r>
            <a:r>
              <a:rPr lang="en-GB" sz="1200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16x speedup at VLEN=512, due to processing 16 elements (VLEN / 32-bit) per iteration instead of just 1 in the scalar case.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96C511-596B-F193-4194-FF5FA5F0A5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0" y="819150"/>
            <a:ext cx="60388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426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2119</TotalTime>
  <Words>837</Words>
  <Application>Microsoft Office PowerPoint</Application>
  <PresentationFormat>Widescreen</PresentationFormat>
  <Paragraphs>75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JetBrains Mono</vt:lpstr>
      <vt:lpstr>Office Theme</vt:lpstr>
      <vt:lpstr>RISC-V Super-Scalar Out-of-Order Simulator</vt:lpstr>
      <vt:lpstr>PowerPoint Presentation</vt:lpstr>
      <vt:lpstr>Features</vt:lpstr>
      <vt:lpstr>Benchmarks</vt:lpstr>
      <vt:lpstr>Experiment One – Pipeline Width</vt:lpstr>
      <vt:lpstr>Experiment Two – Branch Prediction Policies </vt:lpstr>
      <vt:lpstr>Experiment Three - Vectorisation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Cooper</dc:creator>
  <cp:lastModifiedBy>Finn Cooper</cp:lastModifiedBy>
  <cp:revision>492</cp:revision>
  <dcterms:created xsi:type="dcterms:W3CDTF">2026-04-19T16:33:01Z</dcterms:created>
  <dcterms:modified xsi:type="dcterms:W3CDTF">2026-04-29T20:39:22Z</dcterms:modified>
</cp:coreProperties>
</file>