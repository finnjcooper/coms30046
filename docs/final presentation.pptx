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25"/>
    <a:srgbClr val="1111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A3A83-5DEB-3060-FB2B-F43E500CF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52EA2E-69F0-4ED4-79E7-3D469F301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E6E83-58AB-330F-60ED-FCB9FD7BF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D54DB-E3A9-B753-0DDF-87FD8992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1BB5D-1A1A-4719-5444-B6FB2C82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98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941D-FB1B-5B01-95AC-2A1BECE27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2C03D-34FF-361A-D4AC-F0D528182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DB312-014A-7725-5010-B3F53CE0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E50F2-D6D9-0CD7-3E54-228E897BE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D264C-F9C9-F4BF-D5AA-8E44933B8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864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1CB2-B1A4-3BB3-139E-C166F35CC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E5330-35EF-E7B9-55BA-47AD28E30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E4AD1-520F-BCCB-722A-53FF7127E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9EBD7-0E96-D663-20F5-21242E77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C0A10-CF44-0681-B02C-9EEBDAF6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214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756F-9DD1-5706-AA73-934E9F6B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69F52-2932-1FE0-50EC-C926926F50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78A46-C211-1438-3E93-3136669F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1B63D-7A64-7DDF-90C9-A96EBB99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352F6-A7B6-80A0-C8CC-F6F2B3F7B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7E467-699F-59A3-D27B-D31F4DF4C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53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E4EF7-A37E-7C24-70D5-6DA991EE0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B6F89-3003-FF3B-3A6A-37899E40D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C6BCF-2DE9-1FCC-76BB-6EBF3B3B95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0CDF56-1C5B-29A9-8F97-FE1FE85FD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75EBE-6F0A-5C6D-7E83-AD8D09E7DD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66F64D-46BF-A8F1-1235-B8903703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E1970-21E2-3C0A-AE5D-CD44D1EB6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467D86-52A9-66C6-3AA4-11C50D5BE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99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CD9A-F4F0-5356-12AC-38C31D9E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C9D380-9F3A-88EC-8058-133260F89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C0D39-F071-2DB4-8387-F358500C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3FEA2-B138-9804-B235-37CE01F2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730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1889FB-17EF-A105-2689-71768FB9B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D2EBB5-D748-7230-6C36-624DA5717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82AF9-286F-94F0-7D01-35F18A2B0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206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02B06-7E05-4FB9-AC01-7118FF477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6A265-6A0B-9C5F-0190-B19B8EBD3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1E4E3-0094-976C-16F6-1A540703A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06909-3D34-8505-03E3-CA653E49E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B0A3D-CBF7-7CDA-050D-2F78EB4AB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5E6A5-4D32-494C-DFD1-C2C54B84E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783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8525C-6DAE-A2B8-F886-608A5CEAB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CB0E03-9089-C7E3-EA82-13674B2B5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F02B6-B1EA-3A6C-A9EB-78DBD3A34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7B1F9-9322-1DF9-7F38-A758BC529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BA90C-DFD6-FA95-95BD-E9DA1426D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13A49-0A42-21DA-EF59-F4AC4AEC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00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BC26-E954-755C-F8EF-6C8ECE8DF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B18D8-198F-D540-79C8-58306C552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7CB17-DBF9-01BA-F626-C378C5FA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7ABD-DF1F-46C2-1F08-83A8A8C7E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10DDF-C287-567F-7447-0C97CE57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896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5813EF-5297-796E-1064-5356B3550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A8F1B2-9CF3-5E62-9346-2845F216E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05025-93E5-40AA-6E54-66AD5AAC2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3B6A-6BCC-454B-8859-8F44071057AF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6141B-1ACC-22BF-38D7-591BDEC98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2398B-F387-F373-50A3-DCC10812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7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5490E6-563B-AA3D-1833-C68BEC67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B720A-EC48-9653-D860-059B7A370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ABA64-983F-8EC8-9E9C-5E22C3A533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63B6A-6BCC-454B-8859-8F44071057AF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8D4FB-FE4B-038F-680E-AD6E81F70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E9956-0A15-3617-0D3C-C09A3464E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D5FEB-5A35-409B-B2FD-C678B1DC6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100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FC964-F669-F88E-E187-EF3AA49BA2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RISC-V Super-Scalar</a:t>
            </a:r>
            <a:br>
              <a:rPr lang="en-GB" sz="48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48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Out-of-Order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46DE3-E573-9D44-69D5-A40CE32BFC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Finn Cooper – sd22404</a:t>
            </a:r>
          </a:p>
        </p:txBody>
      </p:sp>
    </p:spTree>
    <p:extLst>
      <p:ext uri="{BB962C8B-B14F-4D97-AF65-F5344CB8AC3E}">
        <p14:creationId xmlns:p14="http://schemas.microsoft.com/office/powerpoint/2010/main" val="299946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CBF0816E-43F8-F541-9E27-91B54BC884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912" y="623887"/>
            <a:ext cx="1054417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499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D21A2-F86A-A65B-115F-6A1D34AF5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559952"/>
            <a:ext cx="6007654" cy="58607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RV32I base integer instructions (majority)</a:t>
            </a:r>
          </a:p>
          <a:p>
            <a:pPr marL="457200" lvl="1" indent="0">
              <a:buNone/>
              <a:defRPr/>
            </a:pPr>
            <a:r>
              <a:rPr lang="en-GB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 </a:t>
            </a:r>
            <a:r>
              <a:rPr lang="en-GB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ebreak</a:t>
            </a:r>
            <a:r>
              <a:rPr lang="en-GB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lang="en-GB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ecall</a:t>
            </a:r>
            <a:r>
              <a:rPr lang="en-GB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/fence/</a:t>
            </a:r>
            <a:r>
              <a:rPr lang="en-GB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csr</a:t>
            </a:r>
            <a:endParaRPr lang="en-GB" sz="11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lvl="0" indent="0">
              <a:buNone/>
              <a:defRPr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RV32M multiply/divide extension (full)</a:t>
            </a:r>
          </a:p>
          <a:p>
            <a:pPr marL="0" indent="0">
              <a:buNone/>
              <a:defRPr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RV32F floating-point extension (majority)</a:t>
            </a:r>
          </a:p>
          <a:p>
            <a:pPr marL="457200" lvl="1" indent="0">
              <a:buNone/>
              <a:defRPr/>
            </a:pPr>
            <a:r>
              <a:rPr lang="en-GB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 flags/</a:t>
            </a:r>
            <a:r>
              <a:rPr lang="en-GB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fcsr</a:t>
            </a:r>
            <a:endParaRPr lang="en-GB" sz="11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  <a:defRPr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RV32V vector extension (limited)</a:t>
            </a:r>
          </a:p>
          <a:p>
            <a:pPr marL="457200" lvl="1" indent="0">
              <a:buNone/>
              <a:defRPr/>
            </a:pPr>
            <a:r>
              <a:rPr lang="en-GB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LMUL 1, ELEN 32, VLEN 128/256/512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Seven-stage pipeline:</a:t>
            </a:r>
          </a:p>
          <a:p>
            <a:pPr marL="457200" lvl="1" indent="0">
              <a:buNone/>
            </a:pPr>
            <a:r>
              <a:rPr lang="en-GB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fetch -&gt; decode -&gt; dispatch -&gt; issue -&gt; execute -&gt; writeback -&gt; commit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32-wide integer, float and vector register files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Out-of-order issue via reservation stations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In-order commit via 64-wide re-order buffer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Renaming via tag-based register alias tables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Configurable fetch/issue/commit widths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Configurable number of execution units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Multiple branch prediction policies:</a:t>
            </a:r>
          </a:p>
          <a:p>
            <a:pPr marL="457200" lvl="1" indent="0">
              <a:buNone/>
            </a:pPr>
            <a:r>
              <a:rPr lang="en-GB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static taken</a:t>
            </a:r>
          </a:p>
          <a:p>
            <a:pPr marL="457200" lvl="1" indent="0">
              <a:buNone/>
            </a:pPr>
            <a:r>
              <a:rPr lang="en-GB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static not taken</a:t>
            </a:r>
          </a:p>
          <a:p>
            <a:pPr marL="457200" lvl="1" indent="0">
              <a:buNone/>
            </a:pPr>
            <a:r>
              <a:rPr lang="en-GB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static backward taken forward not taken</a:t>
            </a:r>
          </a:p>
          <a:p>
            <a:pPr marL="457200" lvl="1" indent="0">
              <a:buNone/>
            </a:pPr>
            <a:r>
              <a:rPr lang="en-GB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dynamic two-bit saturating counter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Relaxed memory policy:</a:t>
            </a:r>
          </a:p>
          <a:p>
            <a:pPr marL="457200" lvl="1" indent="0">
              <a:buNone/>
            </a:pPr>
            <a:r>
              <a:rPr lang="en-GB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non-overlapping loads bypass pending older stores</a:t>
            </a:r>
          </a:p>
          <a:p>
            <a:pPr marL="457200" lvl="1" indent="0">
              <a:buNone/>
            </a:pPr>
            <a:r>
              <a:rPr lang="en-GB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overlapping loads have older stores forwarded at byte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A94E5A-66A6-A3C2-377F-B9991338FA0F}"/>
              </a:ext>
            </a:extLst>
          </p:cNvPr>
          <p:cNvSpPr txBox="1">
            <a:spLocks/>
          </p:cNvSpPr>
          <p:nvPr/>
        </p:nvSpPr>
        <p:spPr>
          <a:xfrm>
            <a:off x="6096000" y="559952"/>
            <a:ext cx="5353050" cy="586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8B1C536-722D-D79D-082E-72655AE2D13F}"/>
              </a:ext>
            </a:extLst>
          </p:cNvPr>
          <p:cNvSpPr txBox="1">
            <a:spLocks/>
          </p:cNvSpPr>
          <p:nvPr/>
        </p:nvSpPr>
        <p:spPr>
          <a:xfrm>
            <a:off x="6750604" y="559952"/>
            <a:ext cx="4698446" cy="586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GB" sz="15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Interactive terminal UI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GB" sz="10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step/run, headless mode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GB" sz="10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registers, stack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GB" sz="15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Stack handling, function calls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GB" sz="15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Configurable cycle exec units</a:t>
            </a:r>
          </a:p>
        </p:txBody>
      </p:sp>
    </p:spTree>
    <p:extLst>
      <p:ext uri="{BB962C8B-B14F-4D97-AF65-F5344CB8AC3E}">
        <p14:creationId xmlns:p14="http://schemas.microsoft.com/office/powerpoint/2010/main" val="2289486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6E5CE0-1183-1BB9-7B41-939F6EB14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028A8-EC7D-254E-0CF8-1E0FBA904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577850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Benchmarks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05747-EEE1-B666-0153-2F1562478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9150"/>
            <a:ext cx="10515600" cy="53578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dot product</a:t>
            </a:r>
          </a:p>
          <a:p>
            <a:pPr marL="0" indent="0">
              <a:buNone/>
            </a:pPr>
            <a:r>
              <a:rPr lang="en-GB" sz="16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fibonacci</a:t>
            </a:r>
            <a:endParaRPr lang="en-GB" sz="16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gaussian</a:t>
            </a:r>
          </a:p>
          <a:p>
            <a:pPr marL="0" indent="0">
              <a:buNone/>
            </a:pPr>
            <a:r>
              <a:rPr lang="en-GB" sz="16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matmul</a:t>
            </a:r>
            <a:endParaRPr lang="en-GB" sz="16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quicksort</a:t>
            </a:r>
          </a:p>
          <a:p>
            <a:pPr marL="0" indent="0">
              <a:buNone/>
            </a:pPr>
            <a:r>
              <a:rPr lang="en-GB" sz="16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saxpy</a:t>
            </a:r>
            <a:endParaRPr lang="en-GB" sz="16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736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3725DC-29AA-DA76-8237-DA142626A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B1556-0DE8-703A-2686-90223EE49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577850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Experiment One – Pipeline Width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B3A47-8A20-8370-B3BF-45DE669BE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9150"/>
            <a:ext cx="5314950" cy="53578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Hypothesis</a:t>
            </a:r>
          </a:p>
          <a:p>
            <a:pPr marL="0" indent="0">
              <a:buNone/>
            </a:pPr>
            <a:r>
              <a:rPr lang="en-GB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Increasing pipeline width will lead to increased IPC across all benchmarks.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Experiment</a:t>
            </a:r>
          </a:p>
          <a:p>
            <a:pPr marL="0" indent="0">
              <a:buNone/>
            </a:pPr>
            <a:endParaRPr lang="en-GB" sz="12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endParaRPr lang="en-GB" sz="12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Results</a:t>
            </a:r>
          </a:p>
          <a:p>
            <a:pPr marL="0" indent="0">
              <a:buNone/>
            </a:pPr>
            <a:r>
              <a:rPr lang="en-GB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...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2E75F6-EC7F-3108-ACE4-2AFCB47E1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150" y="819150"/>
            <a:ext cx="6038850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090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0DFCB-571D-E20A-6BEA-2279C156B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48BC-F8FC-1657-241E-E6B99A4C4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577850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Experiment Two – Branch Prediction Policies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6566E-F80F-B658-73FB-CE6EF8B5F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9150"/>
            <a:ext cx="5314950" cy="5357813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Hypothesis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Increasing pipeline width will lead to increased IPC across all benchmarks.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Experiment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34D07C-951D-1852-4CC1-8071AE069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150" y="819150"/>
            <a:ext cx="6038850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03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7139C-CFC4-F842-3B67-12B8AA39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8A9B3-9D14-08A1-464A-9E72299CA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577850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Experiment Three - Vectorisation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2A3A0-71B6-6E0B-F31B-8D89D6EB5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9150"/>
            <a:ext cx="5314950" cy="53578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Hypothesis</a:t>
            </a:r>
          </a:p>
          <a:p>
            <a:pPr marL="0" indent="0">
              <a:buNone/>
            </a:pPr>
            <a:r>
              <a:rPr lang="en-GB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Increasing the maximum vector length will decrease the number of cycles taken to execute SIMD benchmarks and therefore speed up execution compared the baseline non-vectorised version.</a:t>
            </a:r>
          </a:p>
          <a:p>
            <a:pPr marL="0" indent="0">
              <a:buNone/>
            </a:pPr>
            <a:endParaRPr lang="en-GB" sz="12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Experiment</a:t>
            </a:r>
          </a:p>
          <a:p>
            <a:pPr marL="0" indent="0">
              <a:buNone/>
            </a:pPr>
            <a:r>
              <a:rPr lang="en-GB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The four SIMD-friendly benchmarks were executed with the same configuration besides the maximum vector length. The number of cycles taken to complete.</a:t>
            </a:r>
          </a:p>
          <a:p>
            <a:pPr marL="0" indent="0">
              <a:buNone/>
            </a:pPr>
            <a:endParaRPr lang="en-GB" sz="12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Results</a:t>
            </a:r>
          </a:p>
          <a:p>
            <a:pPr marL="0" indent="0">
              <a:buNone/>
            </a:pPr>
            <a:r>
              <a:rPr lang="en-GB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All benchmarks show a similar decrease of about 10x in the number of cycles taken.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AD5AEB-A1EC-2D6E-6723-894141399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150" y="819150"/>
            <a:ext cx="6038850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426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294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JetBrains Mono</vt:lpstr>
      <vt:lpstr>Office Theme</vt:lpstr>
      <vt:lpstr>RISC-V Super-Scalar Out-of-Order Simulator</vt:lpstr>
      <vt:lpstr>PowerPoint Presentation</vt:lpstr>
      <vt:lpstr>PowerPoint Presentation</vt:lpstr>
      <vt:lpstr>Benchmarks</vt:lpstr>
      <vt:lpstr>Experiment One – Pipeline Width</vt:lpstr>
      <vt:lpstr>Experiment Two – Branch Prediction Policies </vt:lpstr>
      <vt:lpstr>Experiment Three - Vectorisation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Finn Cooper</dc:creator>
  <cp:lastModifiedBy>Finn Cooper</cp:lastModifiedBy>
  <cp:revision>112</cp:revision>
  <dcterms:created xsi:type="dcterms:W3CDTF">2026-04-19T16:33:01Z</dcterms:created>
  <dcterms:modified xsi:type="dcterms:W3CDTF">2026-04-29T13:34:39Z</dcterms:modified>
</cp:coreProperties>
</file>