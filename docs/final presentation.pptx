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3" r:id="rId5"/>
    <p:sldId id="259" r:id="rId6"/>
    <p:sldId id="260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56" d="100"/>
          <a:sy n="156" d="100"/>
        </p:scale>
        <p:origin x="348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A3A83-5DEB-3060-FB2B-F43E500CF5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52EA2E-69F0-4ED4-79E7-3D469F3014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AE6E83-58AB-330F-60ED-FCB9FD7BF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28/04/2026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ED54DB-E3A9-B753-0DDF-87FD89921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11BB5D-1A1A-4719-5444-B6FB2C82E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99854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D941D-FB1B-5B01-95AC-2A1BECE2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72C03D-34FF-361A-D4AC-F0D5281829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7DB312-014A-7725-5010-B3F53CE07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28/04/2026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4E50F2-D6D9-0CD7-3E54-228E897BE1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AD264C-F9C9-F4BF-D5AA-8E44933B8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58644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61CB2-B1A4-3BB3-139E-C166F35CCE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0E5330-35EF-E7B9-55BA-47AD28E306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CE4AD1-520F-BCCB-722A-53FF7127E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28/04/2026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99EBD7-0E96-D663-20F5-21242E77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C0A10-CF44-0681-B02C-9EEBDAF69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0214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C756F-9DD1-5706-AA73-934E9F6BD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269F52-2932-1FE0-50EC-C926926F50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D78A46-C211-1438-3E93-3136669F50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91B63D-7A64-7DDF-90C9-A96EBB997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28/04/2026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B352F6-A7B6-80A0-C8CC-F6F2B3F7B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E7E467-699F-59A3-D27B-D31F4DF4C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95347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E4EF7-A37E-7C24-70D5-6DA991EE0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B6F89-3003-FF3B-3A6A-37899E40DA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5C6BCF-2DE9-1FCC-76BB-6EBF3B3B95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0CDF56-1C5B-29A9-8F97-FE1FE85FD9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5175EBE-6F0A-5C6D-7E83-AD8D09E7DD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66F64D-46BF-A8F1-1235-B89037039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28/04/2026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4E1970-21E2-3C0A-AE5D-CD44D1EB6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467D86-52A9-66C6-3AA4-11C50D5BE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8996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3CD9A-F4F0-5356-12AC-38C31D9EB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C9D380-9F3A-88EC-8058-133260F897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28/04/2026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7C0D39-F071-2DB4-8387-F358500C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83FEA2-B138-9804-B235-37CE01F2A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07302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81889FB-17EF-A105-2689-71768FB9B5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28/04/2026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D2EBB5-D748-7230-6C36-624DA5717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782AF9-286F-94F0-7D01-35F18A2B0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32060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002B06-7E05-4FB9-AC01-7118FF477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F6A265-6A0B-9C5F-0190-B19B8EBD3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F1E4E3-0094-976C-16F6-1A540703A7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006909-3D34-8505-03E3-CA653E49E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28/04/2026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5B0A3D-CBF7-7CDA-050D-2F78EB4AB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45E6A5-4D32-494C-DFD1-C2C54B84E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17837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8525C-6DAE-A2B8-F886-608A5CEAB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8CB0E03-9089-C7E3-EA82-13674B2B5F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6F02B6-B1EA-3A6C-A9EB-78DBD3A34E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B7B1F9-9322-1DF9-7F38-A758BC529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28/04/2026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7BA90C-DFD6-FA95-95BD-E9DA1426D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013A49-0A42-21DA-EF59-F4AC4AECF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70045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7BC26-E954-755C-F8EF-6C8ECE8DF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4B18D8-198F-D540-79C8-58306C552D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B7CB17-DBF9-01BA-F626-C378C5FA1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28/04/2026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7B7ABD-DF1F-46C2-1F08-83A8A8C7ED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E10DDF-C287-567F-7447-0C97CE57A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58967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5813EF-5297-796E-1064-5356B35500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A8F1B2-9CF3-5E62-9346-2845F216EA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405025-93E5-40AA-6E54-66AD5AAC2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28/04/2026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86141B-1ACC-22BF-38D7-591BDEC98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A2398B-F387-F373-50A3-DCC10812D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175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5490E6-563B-AA3D-1833-C68BEC6725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5B720A-EC48-9653-D860-059B7A3701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2ABA64-983F-8EC8-9E9C-5E22C3A533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C63B6A-6BCC-454B-8859-8F44071057AF}" type="datetimeFigureOut">
              <a:rPr lang="en-GB" smtClean="0"/>
              <a:t>28/04/2026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8D4FB-FE4B-038F-680E-AD6E81F702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E9956-0A15-3617-0D3C-C09A3464E9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71003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FC964-F669-F88E-E187-EF3AA49BA25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sz="48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RISC-V Super-Scalar</a:t>
            </a:r>
            <a:br>
              <a:rPr lang="en-GB" sz="48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48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Out-of-Order Simulator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E46DE3-E573-9D44-69D5-A40CE32BFC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Finn Cooper – sd22404</a:t>
            </a:r>
          </a:p>
        </p:txBody>
      </p:sp>
    </p:spTree>
    <p:extLst>
      <p:ext uri="{BB962C8B-B14F-4D97-AF65-F5344CB8AC3E}">
        <p14:creationId xmlns:p14="http://schemas.microsoft.com/office/powerpoint/2010/main" val="29994667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DFE8C399-B5CD-9F7C-505B-043F73CE95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04875" y="338137"/>
            <a:ext cx="10382250" cy="618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84993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D21A2-F86A-A65B-115F-6A1D34AF54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2950" y="559952"/>
            <a:ext cx="6007654" cy="58607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  <a:defRPr/>
            </a:pPr>
            <a:r>
              <a:rPr lang="en-GB" sz="1600" dirty="0">
                <a:solidFill>
                  <a:prstClr val="black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RV32I base integer instructions (majority)</a:t>
            </a:r>
          </a:p>
          <a:p>
            <a:pPr marL="457200" lvl="1" indent="0">
              <a:buNone/>
              <a:defRPr/>
            </a:pPr>
            <a:r>
              <a:rPr lang="en-GB" sz="1100" dirty="0">
                <a:solidFill>
                  <a:prstClr val="black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no </a:t>
            </a:r>
            <a:r>
              <a:rPr lang="en-GB" sz="1100" dirty="0" err="1">
                <a:solidFill>
                  <a:prstClr val="black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ebreak</a:t>
            </a:r>
            <a:r>
              <a:rPr lang="en-GB" sz="1100" dirty="0">
                <a:solidFill>
                  <a:prstClr val="black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/</a:t>
            </a:r>
            <a:r>
              <a:rPr lang="en-GB" sz="1100" dirty="0" err="1">
                <a:solidFill>
                  <a:prstClr val="black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ecall</a:t>
            </a:r>
            <a:r>
              <a:rPr lang="en-GB" sz="1100" dirty="0">
                <a:solidFill>
                  <a:prstClr val="black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/fence/</a:t>
            </a:r>
            <a:r>
              <a:rPr lang="en-GB" sz="1100" dirty="0" err="1">
                <a:solidFill>
                  <a:prstClr val="black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csr</a:t>
            </a:r>
            <a:endParaRPr lang="en-GB" sz="1100" dirty="0">
              <a:solidFill>
                <a:prstClr val="black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lvl="0" indent="0">
              <a:buNone/>
              <a:defRPr/>
            </a:pPr>
            <a:r>
              <a:rPr lang="en-GB" sz="1600" dirty="0">
                <a:solidFill>
                  <a:prstClr val="black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RV32M multiply/divide extension (full)</a:t>
            </a:r>
          </a:p>
          <a:p>
            <a:pPr marL="0" indent="0">
              <a:buNone/>
              <a:defRPr/>
            </a:pPr>
            <a:r>
              <a:rPr lang="en-GB" sz="1600" dirty="0">
                <a:solidFill>
                  <a:prstClr val="black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RV32F floating-point extension (majority)</a:t>
            </a:r>
          </a:p>
          <a:p>
            <a:pPr marL="457200" lvl="1" indent="0">
              <a:buNone/>
              <a:defRPr/>
            </a:pPr>
            <a:r>
              <a:rPr lang="en-GB" sz="1100" dirty="0">
                <a:solidFill>
                  <a:prstClr val="black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no flags/</a:t>
            </a:r>
            <a:r>
              <a:rPr lang="en-GB" sz="1100" dirty="0" err="1">
                <a:solidFill>
                  <a:prstClr val="black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fcsr</a:t>
            </a:r>
            <a:endParaRPr lang="en-GB" sz="1100" dirty="0">
              <a:solidFill>
                <a:prstClr val="black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buNone/>
              <a:defRPr/>
            </a:pPr>
            <a:r>
              <a:rPr lang="en-GB" sz="1600" dirty="0">
                <a:solidFill>
                  <a:prstClr val="black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RV32V vector extension (limited)</a:t>
            </a:r>
          </a:p>
          <a:p>
            <a:pPr marL="457200" lvl="1" indent="0">
              <a:buNone/>
              <a:defRPr/>
            </a:pPr>
            <a:r>
              <a:rPr lang="en-GB" sz="1100" dirty="0">
                <a:solidFill>
                  <a:prstClr val="black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LMUL 1, ELEN 32, VLEN 128/256/512</a:t>
            </a:r>
          </a:p>
          <a:p>
            <a:pPr marL="0" indent="0">
              <a:buNone/>
            </a:pPr>
            <a:r>
              <a:rPr lang="en-GB" sz="16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Seven-stage pipeline:</a:t>
            </a:r>
          </a:p>
          <a:p>
            <a:pPr marL="457200" lvl="1" indent="0">
              <a:buNone/>
            </a:pPr>
            <a:r>
              <a:rPr lang="en-GB" sz="11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fetch -&gt; decode -&gt; dispatch -&gt; issue -&gt; execute -&gt; writeback -&gt; commit</a:t>
            </a:r>
          </a:p>
          <a:p>
            <a:pPr marL="0" indent="0">
              <a:buNone/>
            </a:pPr>
            <a:r>
              <a:rPr lang="en-GB" sz="1600" dirty="0">
                <a:solidFill>
                  <a:prstClr val="black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32-wide integer, float and vector register files</a:t>
            </a:r>
            <a:endParaRPr lang="en-GB" sz="1600" dirty="0"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buNone/>
            </a:pPr>
            <a:r>
              <a:rPr lang="en-GB" sz="16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Out-of-order issue via reservation stations</a:t>
            </a:r>
          </a:p>
          <a:p>
            <a:pPr marL="0" indent="0">
              <a:buNone/>
            </a:pPr>
            <a:r>
              <a:rPr lang="en-GB" sz="16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In-order commit via 64-wide re-order buffer</a:t>
            </a:r>
          </a:p>
          <a:p>
            <a:pPr marL="0" indent="0">
              <a:buNone/>
            </a:pPr>
            <a:r>
              <a:rPr lang="en-GB" sz="16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Renaming via tag-based register alias tables</a:t>
            </a:r>
          </a:p>
          <a:p>
            <a:pPr marL="0" indent="0">
              <a:buNone/>
            </a:pPr>
            <a:r>
              <a:rPr lang="en-GB" sz="16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Configurable fetch/issue/commit widths</a:t>
            </a:r>
          </a:p>
          <a:p>
            <a:pPr marL="0" indent="0">
              <a:buNone/>
            </a:pPr>
            <a:r>
              <a:rPr lang="en-GB" sz="16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Configurable number of execution units</a:t>
            </a:r>
          </a:p>
          <a:p>
            <a:pPr marL="0" indent="0">
              <a:buNone/>
            </a:pPr>
            <a:r>
              <a:rPr lang="en-GB" sz="16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Multiple branch prediction policies:</a:t>
            </a:r>
          </a:p>
          <a:p>
            <a:pPr marL="457200" lvl="1" indent="0">
              <a:buNone/>
            </a:pPr>
            <a:r>
              <a:rPr lang="en-GB" sz="11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static taken</a:t>
            </a:r>
          </a:p>
          <a:p>
            <a:pPr marL="457200" lvl="1" indent="0">
              <a:buNone/>
            </a:pPr>
            <a:r>
              <a:rPr lang="en-GB" sz="11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static not taken</a:t>
            </a:r>
          </a:p>
          <a:p>
            <a:pPr marL="457200" lvl="1" indent="0">
              <a:buNone/>
            </a:pPr>
            <a:r>
              <a:rPr lang="en-GB" sz="11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static backward taken forward not taken</a:t>
            </a:r>
          </a:p>
          <a:p>
            <a:pPr marL="457200" lvl="1" indent="0">
              <a:buNone/>
            </a:pPr>
            <a:r>
              <a:rPr lang="en-GB" sz="11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dynamic two-bit saturating counter</a:t>
            </a:r>
          </a:p>
          <a:p>
            <a:pPr marL="0" indent="0">
              <a:buNone/>
            </a:pPr>
            <a:r>
              <a:rPr lang="en-GB" sz="16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Relaxed memory policy:</a:t>
            </a:r>
          </a:p>
          <a:p>
            <a:pPr marL="457200" lvl="1" indent="0">
              <a:buNone/>
            </a:pPr>
            <a:r>
              <a:rPr lang="en-GB" sz="11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non-overlapping loads bypass pending older stores</a:t>
            </a:r>
          </a:p>
          <a:p>
            <a:pPr marL="457200" lvl="1" indent="0">
              <a:buNone/>
            </a:pPr>
            <a:r>
              <a:rPr lang="en-GB" sz="11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overlapping loads have older stores forwarded at byte level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7A94E5A-66A6-A3C2-377F-B9991338FA0F}"/>
              </a:ext>
            </a:extLst>
          </p:cNvPr>
          <p:cNvSpPr txBox="1">
            <a:spLocks/>
          </p:cNvSpPr>
          <p:nvPr/>
        </p:nvSpPr>
        <p:spPr>
          <a:xfrm>
            <a:off x="6096000" y="559952"/>
            <a:ext cx="5353050" cy="58607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8B1C536-722D-D79D-082E-72655AE2D13F}"/>
              </a:ext>
            </a:extLst>
          </p:cNvPr>
          <p:cNvSpPr txBox="1">
            <a:spLocks/>
          </p:cNvSpPr>
          <p:nvPr/>
        </p:nvSpPr>
        <p:spPr>
          <a:xfrm>
            <a:off x="6750604" y="559952"/>
            <a:ext cx="4698446" cy="58607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  <a:defRPr/>
            </a:pPr>
            <a:r>
              <a:rPr lang="en-GB" sz="1500" dirty="0">
                <a:solidFill>
                  <a:prstClr val="black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Interactive terminal UI</a:t>
            </a:r>
          </a:p>
          <a:p>
            <a:pPr marL="457200" lvl="1" indent="0">
              <a:buFont typeface="Arial" panose="020B0604020202020204" pitchFamily="34" charset="0"/>
              <a:buNone/>
              <a:defRPr/>
            </a:pPr>
            <a:r>
              <a:rPr lang="en-GB" sz="1000" dirty="0">
                <a:solidFill>
                  <a:prstClr val="black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step/run, headless mode</a:t>
            </a:r>
          </a:p>
          <a:p>
            <a:pPr marL="457200" lvl="1" indent="0">
              <a:buFont typeface="Arial" panose="020B0604020202020204" pitchFamily="34" charset="0"/>
              <a:buNone/>
              <a:defRPr/>
            </a:pPr>
            <a:r>
              <a:rPr lang="en-GB" sz="1000" dirty="0">
                <a:solidFill>
                  <a:prstClr val="black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registers, stack</a:t>
            </a:r>
          </a:p>
          <a:p>
            <a:pPr marL="0" indent="0">
              <a:buFont typeface="Arial" panose="020B0604020202020204" pitchFamily="34" charset="0"/>
              <a:buNone/>
              <a:defRPr/>
            </a:pPr>
            <a:r>
              <a:rPr lang="en-GB" sz="1500" dirty="0">
                <a:solidFill>
                  <a:prstClr val="black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Stack handling, function calls</a:t>
            </a:r>
          </a:p>
        </p:txBody>
      </p:sp>
    </p:spTree>
    <p:extLst>
      <p:ext uri="{BB962C8B-B14F-4D97-AF65-F5344CB8AC3E}">
        <p14:creationId xmlns:p14="http://schemas.microsoft.com/office/powerpoint/2010/main" val="2289486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E5CE0-1183-1BB9-7B41-939F6EB14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028A8-EC7D-254E-0CF8-1E0FBA904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1301"/>
            <a:ext cx="10515600" cy="577850"/>
          </a:xfrm>
        </p:spPr>
        <p:txBody>
          <a:bodyPr>
            <a:normAutofit/>
          </a:bodyPr>
          <a:lstStyle/>
          <a:p>
            <a:r>
              <a:rPr lang="en-GB" sz="28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Benchmarks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405747-EEE1-B666-0153-2F1562478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9150"/>
            <a:ext cx="10515600" cy="53578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1600"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saxpy</a:t>
            </a:r>
            <a:endParaRPr lang="en-GB" sz="1600" dirty="0"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buNone/>
            </a:pPr>
            <a:r>
              <a:rPr lang="en-GB" sz="1600"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matmul</a:t>
            </a:r>
            <a:endParaRPr lang="en-GB" sz="1600" dirty="0"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buNone/>
            </a:pPr>
            <a:r>
              <a:rPr lang="en-GB" sz="1600"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vectoradd</a:t>
            </a:r>
            <a:endParaRPr lang="en-GB" sz="1600" dirty="0"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37368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725DC-29AA-DA76-8237-DA142626A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B1556-0DE8-703A-2686-90223EE49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1301"/>
            <a:ext cx="10515600" cy="577850"/>
          </a:xfrm>
        </p:spPr>
        <p:txBody>
          <a:bodyPr>
            <a:normAutofit/>
          </a:bodyPr>
          <a:lstStyle/>
          <a:p>
            <a:r>
              <a:rPr lang="en-GB" sz="28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Experiment One -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1B3A47-8A20-8370-B3BF-45DE669BE1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9150"/>
            <a:ext cx="10515600" cy="53578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16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Hypothesis: </a:t>
            </a:r>
          </a:p>
        </p:txBody>
      </p:sp>
    </p:spTree>
    <p:extLst>
      <p:ext uri="{BB962C8B-B14F-4D97-AF65-F5344CB8AC3E}">
        <p14:creationId xmlns:p14="http://schemas.microsoft.com/office/powerpoint/2010/main" val="4670905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0DFCB-571D-E20A-6BEA-2279C156B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048BC-F8FC-1657-241E-E6B99A4C4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1301"/>
            <a:ext cx="10515600" cy="577850"/>
          </a:xfrm>
        </p:spPr>
        <p:txBody>
          <a:bodyPr>
            <a:normAutofit/>
          </a:bodyPr>
          <a:lstStyle/>
          <a:p>
            <a:r>
              <a:rPr lang="en-GB" sz="28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Experiment Two -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66566E-F80F-B658-73FB-CE6EF8B5F0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9150"/>
            <a:ext cx="10515600" cy="53578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16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Hypothesis: </a:t>
            </a:r>
          </a:p>
        </p:txBody>
      </p:sp>
    </p:spTree>
    <p:extLst>
      <p:ext uri="{BB962C8B-B14F-4D97-AF65-F5344CB8AC3E}">
        <p14:creationId xmlns:p14="http://schemas.microsoft.com/office/powerpoint/2010/main" val="39237035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7139C-CFC4-F842-3B67-12B8AA397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8A9B3-9D14-08A1-464A-9E72299CA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1301"/>
            <a:ext cx="10515600" cy="577850"/>
          </a:xfrm>
        </p:spPr>
        <p:txBody>
          <a:bodyPr>
            <a:normAutofit/>
          </a:bodyPr>
          <a:lstStyle/>
          <a:p>
            <a:r>
              <a:rPr lang="en-GB" sz="28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Experiment Three -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52A3A0-71B6-6E0B-F31B-8D89D6EB52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9150"/>
            <a:ext cx="10515600" cy="53578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16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Hypothesis: </a:t>
            </a:r>
          </a:p>
        </p:txBody>
      </p:sp>
    </p:spTree>
    <p:extLst>
      <p:ext uri="{BB962C8B-B14F-4D97-AF65-F5344CB8AC3E}">
        <p14:creationId xmlns:p14="http://schemas.microsoft.com/office/powerpoint/2010/main" val="33304266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304</TotalTime>
  <Words>184</Words>
  <Application>Microsoft Office PowerPoint</Application>
  <PresentationFormat>Widescreen</PresentationFormat>
  <Paragraphs>39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JetBrains Mono</vt:lpstr>
      <vt:lpstr>Office Theme</vt:lpstr>
      <vt:lpstr>RISC-V Super-Scalar Out-of-Order Simulator</vt:lpstr>
      <vt:lpstr>PowerPoint Presentation</vt:lpstr>
      <vt:lpstr>PowerPoint Presentation</vt:lpstr>
      <vt:lpstr>Benchmarks</vt:lpstr>
      <vt:lpstr>Experiment One - </vt:lpstr>
      <vt:lpstr>Experiment Two - </vt:lpstr>
      <vt:lpstr>Experiment Three -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Finn Cooper</dc:creator>
  <cp:lastModifiedBy>Finn Cooper</cp:lastModifiedBy>
  <cp:revision>76</cp:revision>
  <dcterms:created xsi:type="dcterms:W3CDTF">2026-04-19T16:33:01Z</dcterms:created>
  <dcterms:modified xsi:type="dcterms:W3CDTF">2026-04-28T04:36:12Z</dcterms:modified>
</cp:coreProperties>
</file>